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713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1 min. State the title, the one-line thesis, and names out loud. Hook: the six repos we track are the very tools this pipeline is built from — we're measuring the health of our own supply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 min. Name the two endpoints, the pagination cap (300 issues/repo, why: rate-limit budget and course-scale simplicity), and the pull_request filtering quirk. Land on the dogfooding hook: we track the tools we built this with. Likely question: 'how do you know your issue counts are accurate?' -&gt; PR filtering + the duplicate-id test on slide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2 min. Walk left to right, one breath per box. Emphasize the two materialization choices (view vs table) and that </a:t>
            </a:r>
            <a:r>
              <a:rPr dirty="0" err="1"/>
              <a:t>write_disposition</a:t>
            </a:r>
            <a:r>
              <a:rPr dirty="0"/>
              <a:t>=replace means no run history</a:t>
            </a:r>
            <a:r>
              <a:rPr lang="en-US" dirty="0"/>
              <a:t>,</a:t>
            </a:r>
            <a:r>
              <a:rPr dirty="0"/>
              <a:t> only a snapshot. Likely question: 'why not incremental loads?' -&gt; dataset is small (~1,800 issues total), full refresh is simpler and still cheap on the API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4 min. This slide is a cue card, not the demo itself</a:t>
            </a:r>
            <a:r>
              <a:rPr lang="en-US" dirty="0"/>
              <a:t>.</a:t>
            </a:r>
            <a:r>
              <a:rPr dirty="0"/>
              <a:t> switch to the terminal here. Postgres must already be running (docker start itc6050_postgres). Run the three commands in order, narrating what each one changes underneath. Have a pre-captured screenshot of the dashboard and </a:t>
            </a:r>
            <a:r>
              <a:rPr dirty="0" err="1"/>
              <a:t>dbt</a:t>
            </a:r>
            <a:r>
              <a:rPr dirty="0"/>
              <a:t> test output ready in case the live connection stalls.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 min. Point at the terminal-style PASS=8 line first, then the table. Emphasize the custom test: GitHub issue ids are globally unique, so a duplicate (repo, issue_id) pair can only mean the extractor loaded a page twice — this is the test that would catch that class of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 min. These are real fixes from our own commit history, not hypothetical — name them plainly. Close on the 'if we had more time' line, it's a strong bridge into Q&amp;A. Likely Q&amp;A questions: why replace not incremental (dataset is small, simplicity over engineering effort); why cap at 300 issues/repo (rate-limit + scope, not a bug); what's the grain of each model (issues: one row per issue; mart: one row per repo, enforced by the unique test).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64008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6BADF2"/>
                </a:solidFill>
                <a:latin typeface="Consolas"/>
              </a:rPr>
              <a:t>ITC 6050</a:t>
            </a:r>
            <a:r>
              <a:rPr lang="en-US" sz="1100" b="1" i="0" dirty="0">
                <a:solidFill>
                  <a:srgbClr val="6BADF2"/>
                </a:solidFill>
                <a:latin typeface="Consolas"/>
              </a:rPr>
              <a:t> </a:t>
            </a:r>
            <a:r>
              <a:rPr sz="1100" b="1" i="0" dirty="0">
                <a:solidFill>
                  <a:srgbClr val="6BADF2"/>
                </a:solidFill>
                <a:latin typeface="Consolas"/>
              </a:rPr>
              <a:t>· DATA ENGINEERING · FINAL PROJECT · GROUP 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148840"/>
            <a:ext cx="10515600" cy="7050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 dirty="0">
                <a:solidFill>
                  <a:srgbClr val="FFFFFF"/>
                </a:solidFill>
                <a:latin typeface="Cambria"/>
              </a:rPr>
              <a:t>GitHub</a:t>
            </a:r>
            <a:r>
              <a:rPr lang="en-US" sz="4800" b="1" i="0" dirty="0">
                <a:solidFill>
                  <a:srgbClr val="FFFFFF"/>
                </a:solidFill>
                <a:latin typeface="Cambria"/>
              </a:rPr>
              <a:t> </a:t>
            </a:r>
            <a:r>
              <a:rPr sz="4800" b="1" i="0" dirty="0">
                <a:solidFill>
                  <a:srgbClr val="FFFFFF"/>
                </a:solidFill>
                <a:latin typeface="Cambria"/>
              </a:rPr>
              <a:t>Open Source 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246120"/>
            <a:ext cx="8778240" cy="581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dirty="0">
                <a:solidFill>
                  <a:srgbClr val="C7D2E3"/>
                </a:solidFill>
                <a:latin typeface="Segoe UI"/>
              </a:rPr>
              <a:t>Measuring community health for the open-source tools this pipeline is built from</a:t>
            </a:r>
            <a:r>
              <a:rPr lang="en-US" sz="1650" b="0" i="0" dirty="0">
                <a:solidFill>
                  <a:srgbClr val="C7D2E3"/>
                </a:solidFill>
                <a:latin typeface="Segoe UI"/>
              </a:rPr>
              <a:t>.</a:t>
            </a:r>
            <a:r>
              <a:rPr sz="1650" b="0" i="0" dirty="0">
                <a:solidFill>
                  <a:srgbClr val="C7D2E3"/>
                </a:solidFill>
                <a:latin typeface="Segoe UI"/>
              </a:rPr>
              <a:t> </a:t>
            </a:r>
            <a:r>
              <a:rPr sz="1650" b="0" i="0" dirty="0" err="1">
                <a:solidFill>
                  <a:srgbClr val="C7D2E3"/>
                </a:solidFill>
                <a:latin typeface="Segoe UI"/>
              </a:rPr>
              <a:t>traight</a:t>
            </a:r>
            <a:r>
              <a:rPr sz="1650" b="0" i="0" dirty="0">
                <a:solidFill>
                  <a:srgbClr val="C7D2E3"/>
                </a:solidFill>
                <a:latin typeface="Segoe UI"/>
              </a:rPr>
              <a:t> off the GitHub REST 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7CC0FF"/>
                </a:solidFill>
                <a:latin typeface="Consolas"/>
              </a:rPr>
              <a:t>GitHub API  →  pipeline.py (</a:t>
            </a:r>
            <a:r>
              <a:rPr sz="1300" b="0" i="0" dirty="0" err="1">
                <a:solidFill>
                  <a:srgbClr val="7CC0FF"/>
                </a:solidFill>
                <a:latin typeface="Consolas"/>
              </a:rPr>
              <a:t>dlt</a:t>
            </a:r>
            <a:r>
              <a:rPr sz="1300" b="0" i="0" dirty="0">
                <a:solidFill>
                  <a:srgbClr val="7CC0FF"/>
                </a:solidFill>
                <a:latin typeface="Consolas"/>
              </a:rPr>
              <a:t>)  →  PostgreSQL  →  </a:t>
            </a:r>
            <a:r>
              <a:rPr sz="1300" b="0" i="0" dirty="0" err="1">
                <a:solidFill>
                  <a:srgbClr val="7CC0FF"/>
                </a:solidFill>
                <a:latin typeface="Consolas"/>
              </a:rPr>
              <a:t>dbt</a:t>
            </a:r>
            <a:r>
              <a:rPr sz="1300" b="0" i="0" dirty="0">
                <a:solidFill>
                  <a:srgbClr val="7CC0FF"/>
                </a:solidFill>
                <a:latin typeface="Consolas"/>
              </a:rPr>
              <a:t>  →  </a:t>
            </a:r>
            <a:r>
              <a:rPr sz="1300" b="0" i="0" dirty="0" err="1">
                <a:solidFill>
                  <a:srgbClr val="7CC0FF"/>
                </a:solidFill>
                <a:latin typeface="Consolas"/>
              </a:rPr>
              <a:t>Streamlit</a:t>
            </a:r>
            <a:endParaRPr sz="1300" b="0" i="0" dirty="0">
              <a:solidFill>
                <a:srgbClr val="7CC0FF"/>
              </a:solidFill>
              <a:latin typeface="Consola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5074920"/>
            <a:ext cx="11057839" cy="33020"/>
          </a:xfrm>
          <a:prstGeom prst="rect">
            <a:avLst/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5349240"/>
            <a:ext cx="4572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 dirty="0">
                <a:solidFill>
                  <a:srgbClr val="6BADF2"/>
                </a:solidFill>
                <a:latin typeface="Consolas"/>
              </a:rPr>
              <a:t>GIORGOS ANTONAKIS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94635" y="5349240"/>
            <a:ext cx="1358265" cy="4026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 dirty="0">
                <a:solidFill>
                  <a:srgbClr val="6BADF2"/>
                </a:solidFill>
                <a:latin typeface="Consolas"/>
              </a:rPr>
              <a:t>ORESTIS PAPPAS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250" b="0" i="0" dirty="0">
              <a:solidFill>
                <a:srgbClr val="8792A3"/>
              </a:solidFill>
              <a:latin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C51F44-4B24-B200-F741-F778190F6068}"/>
              </a:ext>
            </a:extLst>
          </p:cNvPr>
          <p:cNvSpPr txBox="1"/>
          <p:nvPr/>
        </p:nvSpPr>
        <p:spPr>
          <a:xfrm>
            <a:off x="4756785" y="5349240"/>
            <a:ext cx="1358265" cy="4026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200" b="1" i="0" dirty="0">
                <a:solidFill>
                  <a:srgbClr val="6BADF2"/>
                </a:solidFill>
                <a:latin typeface="Consolas"/>
              </a:rPr>
              <a:t>AARON DUESING</a:t>
            </a:r>
            <a:endParaRPr sz="1200" b="1" i="0" dirty="0">
              <a:solidFill>
                <a:srgbClr val="6BADF2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250" b="0" i="0" dirty="0">
              <a:solidFill>
                <a:srgbClr val="8792A3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2A78D6"/>
                </a:solidFill>
                <a:latin typeface="Consolas"/>
              </a:rPr>
              <a:t>02 · DATA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86968"/>
            <a:ext cx="110578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rgbClr val="171D27"/>
                </a:solidFill>
                <a:latin typeface="Cambria"/>
              </a:rPr>
              <a:t>GitHub REST API — the pulse we're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874519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78D6"/>
                </a:solidFill>
                <a:latin typeface="Consolas"/>
              </a:rPr>
              <a:t>WHAT WE PULL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85999"/>
            <a:ext cx="5074920" cy="2184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50" b="1" i="0" dirty="0">
                <a:solidFill>
                  <a:srgbClr val="2A78D6"/>
                </a:solidFill>
                <a:latin typeface="Segoe UI"/>
              </a:rPr>
              <a:t>—  </a:t>
            </a:r>
            <a:r>
              <a:rPr sz="1450" b="1" i="0" dirty="0">
                <a:solidFill>
                  <a:srgbClr val="171D27"/>
                </a:solidFill>
                <a:latin typeface="Segoe UI"/>
              </a:rPr>
              <a:t>/repos </a:t>
            </a:r>
            <a:r>
              <a:rPr sz="1450" b="0" i="0" dirty="0">
                <a:solidFill>
                  <a:srgbClr val="565F6E"/>
                </a:solidFill>
                <a:latin typeface="Segoe UI"/>
              </a:rPr>
              <a:t> one snapshot row per repo: stars, forks, language, open-issue count.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50" b="1" i="0" dirty="0">
                <a:solidFill>
                  <a:srgbClr val="2A78D6"/>
                </a:solidFill>
                <a:latin typeface="Segoe UI"/>
              </a:rPr>
              <a:t>—  </a:t>
            </a:r>
            <a:r>
              <a:rPr sz="1450" b="1" i="0" dirty="0">
                <a:solidFill>
                  <a:srgbClr val="171D27"/>
                </a:solidFill>
                <a:latin typeface="Segoe UI"/>
              </a:rPr>
              <a:t>/issues </a:t>
            </a:r>
            <a:r>
              <a:rPr sz="1450" b="0" i="0" dirty="0">
                <a:solidFill>
                  <a:srgbClr val="565F6E"/>
                </a:solidFill>
                <a:latin typeface="Segoe UI"/>
              </a:rPr>
              <a:t> up to 300 newest issues per repo (3 pages × 100), state, author, created/closed timestamps, labels, comment counts.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50" b="1" i="0" dirty="0">
                <a:solidFill>
                  <a:srgbClr val="2A78D6"/>
                </a:solidFill>
                <a:latin typeface="Segoe UI"/>
              </a:rPr>
              <a:t>—  </a:t>
            </a:r>
            <a:r>
              <a:rPr sz="1450" b="1" i="0" dirty="0">
                <a:solidFill>
                  <a:srgbClr val="171D27"/>
                </a:solidFill>
                <a:latin typeface="Segoe UI"/>
              </a:rPr>
              <a:t>Filtering </a:t>
            </a:r>
            <a:r>
              <a:rPr sz="1450" b="0" i="0" dirty="0">
                <a:solidFill>
                  <a:srgbClr val="565F6E"/>
                </a:solidFill>
                <a:latin typeface="Segoe UI"/>
              </a:rPr>
              <a:t> PRs are returned by this endpoint too</a:t>
            </a:r>
            <a:r>
              <a:rPr lang="en-US" sz="1450" b="0" i="0" dirty="0">
                <a:solidFill>
                  <a:srgbClr val="565F6E"/>
                </a:solidFill>
                <a:latin typeface="Segoe UI"/>
              </a:rPr>
              <a:t>.</a:t>
            </a:r>
            <a:r>
              <a:rPr sz="1450" b="0" i="0" dirty="0">
                <a:solidFill>
                  <a:srgbClr val="565F6E"/>
                </a:solidFill>
                <a:latin typeface="Segoe UI"/>
              </a:rPr>
              <a:t> </a:t>
            </a:r>
            <a:r>
              <a:rPr lang="en-US" sz="1450" b="0" i="0" dirty="0">
                <a:solidFill>
                  <a:srgbClr val="565F6E"/>
                </a:solidFill>
                <a:latin typeface="Segoe UI"/>
              </a:rPr>
              <a:t>R</a:t>
            </a:r>
            <a:r>
              <a:rPr sz="1450" b="0" i="0" dirty="0">
                <a:solidFill>
                  <a:srgbClr val="565F6E"/>
                </a:solidFill>
                <a:latin typeface="Segoe UI"/>
              </a:rPr>
              <a:t>ows carrying a </a:t>
            </a:r>
            <a:r>
              <a:rPr sz="1450" b="0" i="0" dirty="0" err="1">
                <a:solidFill>
                  <a:srgbClr val="565F6E"/>
                </a:solidFill>
                <a:latin typeface="Segoe UI"/>
              </a:rPr>
              <a:t>pull_request</a:t>
            </a:r>
            <a:r>
              <a:rPr sz="1450" b="0" i="0" dirty="0">
                <a:solidFill>
                  <a:srgbClr val="565F6E"/>
                </a:solidFill>
                <a:latin typeface="Segoe UI"/>
              </a:rPr>
              <a:t> key are dropped at extraction, so only real issues land in </a:t>
            </a:r>
            <a:r>
              <a:rPr sz="1450" b="0" i="0" dirty="0" err="1">
                <a:solidFill>
                  <a:srgbClr val="565F6E"/>
                </a:solidFill>
                <a:latin typeface="Segoe UI"/>
              </a:rPr>
              <a:t>raw.issues</a:t>
            </a:r>
            <a:r>
              <a:rPr sz="1450" b="0" i="0" dirty="0">
                <a:solidFill>
                  <a:srgbClr val="565F6E"/>
                </a:solidFill>
                <a:latin typeface="Segoe U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44768" y="1874519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8A63"/>
                </a:solidFill>
                <a:latin typeface="Consolas"/>
              </a:rP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768" y="2285999"/>
            <a:ext cx="5074920" cy="1581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50" b="1" i="0" dirty="0">
                <a:solidFill>
                  <a:srgbClr val="2A78D6"/>
                </a:solidFill>
                <a:latin typeface="Segoe UI"/>
              </a:rPr>
              <a:t>—  </a:t>
            </a:r>
            <a:r>
              <a:rPr sz="1450" b="1" i="0" dirty="0">
                <a:solidFill>
                  <a:srgbClr val="171D27"/>
                </a:solidFill>
                <a:latin typeface="Segoe UI"/>
              </a:rPr>
              <a:t>Community health, quantified. </a:t>
            </a:r>
            <a:r>
              <a:rPr sz="1450" b="0" i="0" dirty="0">
                <a:solidFill>
                  <a:srgbClr val="565F6E"/>
                </a:solidFill>
                <a:latin typeface="Segoe UI"/>
              </a:rPr>
              <a:t> resolution speed, contributor diversity, and backlog growth are all readable straight from issue-tracker activity.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50" b="1" i="0" dirty="0">
                <a:solidFill>
                  <a:srgbClr val="2A78D6"/>
                </a:solidFill>
                <a:latin typeface="Segoe UI"/>
              </a:rPr>
              <a:t>—  </a:t>
            </a:r>
            <a:r>
              <a:rPr sz="1450" b="1" i="0" dirty="0">
                <a:solidFill>
                  <a:srgbClr val="171D27"/>
                </a:solidFill>
                <a:latin typeface="Segoe UI"/>
              </a:rPr>
              <a:t>Rate budget. </a:t>
            </a:r>
            <a:r>
              <a:rPr sz="1450" b="0" i="0" dirty="0">
                <a:solidFill>
                  <a:srgbClr val="565F6E"/>
                </a:solidFill>
                <a:latin typeface="Segoe UI"/>
              </a:rPr>
              <a:t> authenticated requests get 5,000/hour; this pipeline uses roughly 18–24 per run</a:t>
            </a:r>
            <a:r>
              <a:rPr lang="en-US" sz="1450" b="0" i="0" dirty="0">
                <a:solidFill>
                  <a:srgbClr val="565F6E"/>
                </a:solidFill>
                <a:latin typeface="Segoe UI"/>
              </a:rPr>
              <a:t>.</a:t>
            </a:r>
            <a:r>
              <a:rPr sz="1450" b="0" i="0" dirty="0">
                <a:solidFill>
                  <a:srgbClr val="565F6E"/>
                </a:solidFill>
                <a:latin typeface="Segoe UI"/>
              </a:rPr>
              <a:t> </a:t>
            </a:r>
            <a:r>
              <a:rPr lang="en-US" sz="1450" b="0" i="0" dirty="0">
                <a:solidFill>
                  <a:srgbClr val="565F6E"/>
                </a:solidFill>
                <a:latin typeface="Segoe UI"/>
              </a:rPr>
              <a:t>N</a:t>
            </a:r>
            <a:r>
              <a:rPr sz="1450" b="0" i="0" dirty="0">
                <a:solidFill>
                  <a:srgbClr val="565F6E"/>
                </a:solidFill>
                <a:latin typeface="Segoe UI"/>
              </a:rPr>
              <a:t>owhere close to the ceiling.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638675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8792A3"/>
                </a:solidFill>
                <a:latin typeface="Consolas"/>
              </a:rPr>
              <a:t>SIX TRACKED REPOSITORIES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13E902B-AF06-01DE-930C-5A2EB0079317}"/>
              </a:ext>
            </a:extLst>
          </p:cNvPr>
          <p:cNvGrpSpPr/>
          <p:nvPr/>
        </p:nvGrpSpPr>
        <p:grpSpPr>
          <a:xfrm>
            <a:off x="566928" y="4928235"/>
            <a:ext cx="5457136" cy="329184"/>
            <a:chOff x="566928" y="4709160"/>
            <a:chExt cx="5457136" cy="329184"/>
          </a:xfrm>
        </p:grpSpPr>
        <p:sp>
          <p:nvSpPr>
            <p:cNvPr id="10" name="Rounded Rectangle 9"/>
            <p:cNvSpPr/>
            <p:nvPr/>
          </p:nvSpPr>
          <p:spPr>
            <a:xfrm>
              <a:off x="566928" y="4709160"/>
              <a:ext cx="508406" cy="329184"/>
            </a:xfrm>
            <a:prstGeom prst="roundRect">
              <a:avLst>
                <a:gd name="adj" fmla="val 6000"/>
              </a:avLst>
            </a:prstGeom>
            <a:solidFill>
              <a:srgbClr val="F1F4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46304" tIns="0" rIns="146304" bIns="0" rtlCol="0" anchor="ctr"/>
            <a:lstStyle/>
            <a:p>
              <a:pPr algn="ctr"/>
              <a:r>
                <a:rPr sz="1150" b="1" i="0">
                  <a:solidFill>
                    <a:srgbClr val="565F6E"/>
                  </a:solidFill>
                  <a:latin typeface="Consolas"/>
                </a:rPr>
                <a:t>dlt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203350" y="4709160"/>
              <a:ext cx="929030" cy="329184"/>
            </a:xfrm>
            <a:prstGeom prst="roundRect">
              <a:avLst>
                <a:gd name="adj" fmla="val 6000"/>
              </a:avLst>
            </a:prstGeom>
            <a:solidFill>
              <a:srgbClr val="F1F4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46304" tIns="0" rIns="146304" bIns="0" rtlCol="0" anchor="ctr"/>
            <a:lstStyle/>
            <a:p>
              <a:pPr algn="ctr"/>
              <a:r>
                <a:rPr sz="1150" b="1" i="0">
                  <a:solidFill>
                    <a:srgbClr val="565F6E"/>
                  </a:solidFill>
                  <a:latin typeface="Consolas"/>
                </a:rPr>
                <a:t>dbt-core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260396" y="4709160"/>
              <a:ext cx="1013155" cy="329184"/>
            </a:xfrm>
            <a:prstGeom prst="roundRect">
              <a:avLst>
                <a:gd name="adj" fmla="val 6000"/>
              </a:avLst>
            </a:prstGeom>
            <a:solidFill>
              <a:srgbClr val="F1F4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46304" tIns="0" rIns="146304" bIns="0" rtlCol="0" anchor="ctr"/>
            <a:lstStyle/>
            <a:p>
              <a:pPr algn="ctr"/>
              <a:r>
                <a:rPr sz="1150" b="1" i="0">
                  <a:solidFill>
                    <a:srgbClr val="565F6E"/>
                  </a:solidFill>
                  <a:latin typeface="Consolas"/>
                </a:rPr>
                <a:t>Streamlit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401567" y="4709160"/>
              <a:ext cx="844905" cy="329184"/>
            </a:xfrm>
            <a:prstGeom prst="roundRect">
              <a:avLst>
                <a:gd name="adj" fmla="val 6000"/>
              </a:avLst>
            </a:prstGeom>
            <a:solidFill>
              <a:srgbClr val="F1F4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46304" tIns="0" rIns="146304" bIns="0" rtlCol="0" anchor="ctr"/>
            <a:lstStyle/>
            <a:p>
              <a:pPr algn="ctr"/>
              <a:r>
                <a:rPr sz="1150" b="1" i="0">
                  <a:solidFill>
                    <a:srgbClr val="565F6E"/>
                  </a:solidFill>
                  <a:latin typeface="Consolas"/>
                </a:rPr>
                <a:t>Airflow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374488" y="4709160"/>
              <a:ext cx="760780" cy="329184"/>
            </a:xfrm>
            <a:prstGeom prst="roundRect">
              <a:avLst>
                <a:gd name="adj" fmla="val 6000"/>
              </a:avLst>
            </a:prstGeom>
            <a:solidFill>
              <a:srgbClr val="F1F4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46304" tIns="0" rIns="146304" bIns="0" rtlCol="0" anchor="ctr"/>
            <a:lstStyle/>
            <a:p>
              <a:pPr algn="ctr"/>
              <a:r>
                <a:rPr sz="1150" b="1" i="0">
                  <a:solidFill>
                    <a:srgbClr val="565F6E"/>
                  </a:solidFill>
                  <a:latin typeface="Consolas"/>
                </a:rPr>
                <a:t>pandas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263284" y="4709160"/>
              <a:ext cx="760780" cy="329184"/>
            </a:xfrm>
            <a:prstGeom prst="roundRect">
              <a:avLst>
                <a:gd name="adj" fmla="val 6000"/>
              </a:avLst>
            </a:prstGeom>
            <a:solidFill>
              <a:srgbClr val="F1F4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46304" tIns="0" rIns="146304" bIns="0" rtlCol="0" anchor="ctr"/>
            <a:lstStyle/>
            <a:p>
              <a:pPr algn="ctr"/>
              <a:r>
                <a:rPr sz="1150" b="1" i="0" dirty="0" err="1">
                  <a:solidFill>
                    <a:srgbClr val="565F6E"/>
                  </a:solidFill>
                  <a:latin typeface="Consolas"/>
                </a:rPr>
                <a:t>DuckDB</a:t>
              </a:r>
              <a:endParaRPr sz="1150" b="1" i="0" dirty="0">
                <a:solidFill>
                  <a:srgbClr val="565F6E"/>
                </a:solidFill>
                <a:latin typeface="Consolas"/>
              </a:endParaRPr>
            </a:p>
          </p:txBody>
        </p:sp>
      </p:grpSp>
      <p:sp>
        <p:nvSpPr>
          <p:cNvPr id="16" name="Rounded Rectangle 15"/>
          <p:cNvSpPr/>
          <p:nvPr/>
        </p:nvSpPr>
        <p:spPr>
          <a:xfrm>
            <a:off x="566928" y="5349240"/>
            <a:ext cx="11057839" cy="1005840"/>
          </a:xfrm>
          <a:prstGeom prst="roundRect">
            <a:avLst>
              <a:gd name="adj" fmla="val 6000"/>
            </a:avLst>
          </a:prstGeom>
          <a:solidFill>
            <a:srgbClr val="F6E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5640435"/>
            <a:ext cx="10545775" cy="4234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050" b="1" i="0" dirty="0">
                <a:solidFill>
                  <a:srgbClr val="A6650F"/>
                </a:solidFill>
                <a:latin typeface="Consolas"/>
              </a:rPr>
              <a:t>WHY IT'S MORE THAN A DEMO  </a:t>
            </a:r>
            <a:r>
              <a:rPr sz="1250" b="0" i="0" dirty="0">
                <a:solidFill>
                  <a:srgbClr val="171D27"/>
                </a:solidFill>
                <a:latin typeface="Segoe UI"/>
              </a:rPr>
              <a:t>These six repos </a:t>
            </a:r>
            <a:r>
              <a:rPr lang="en-US" sz="1250" b="0" i="0" dirty="0">
                <a:solidFill>
                  <a:srgbClr val="171D27"/>
                </a:solidFill>
                <a:latin typeface="Segoe UI"/>
              </a:rPr>
              <a:t>--&gt;</a:t>
            </a:r>
            <a:r>
              <a:rPr sz="1250" b="0" i="0" dirty="0">
                <a:solidFill>
                  <a:srgbClr val="171D27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171D27"/>
                </a:solidFill>
                <a:latin typeface="Segoe UI"/>
              </a:rPr>
              <a:t>dlt</a:t>
            </a:r>
            <a:r>
              <a:rPr sz="1250" b="0" i="0" dirty="0">
                <a:solidFill>
                  <a:srgbClr val="171D27"/>
                </a:solidFill>
                <a:latin typeface="Segoe UI"/>
              </a:rPr>
              <a:t>, </a:t>
            </a:r>
            <a:r>
              <a:rPr sz="1250" b="0" i="0" dirty="0" err="1">
                <a:solidFill>
                  <a:srgbClr val="171D27"/>
                </a:solidFill>
                <a:latin typeface="Segoe UI"/>
              </a:rPr>
              <a:t>dbt</a:t>
            </a:r>
            <a:r>
              <a:rPr sz="1250" b="0" i="0" dirty="0">
                <a:solidFill>
                  <a:srgbClr val="171D27"/>
                </a:solidFill>
                <a:latin typeface="Segoe UI"/>
              </a:rPr>
              <a:t>-core, </a:t>
            </a:r>
            <a:r>
              <a:rPr sz="1250" b="0" i="0" dirty="0" err="1">
                <a:solidFill>
                  <a:srgbClr val="171D27"/>
                </a:solidFill>
                <a:latin typeface="Segoe UI"/>
              </a:rPr>
              <a:t>Streamlit</a:t>
            </a:r>
            <a:r>
              <a:rPr sz="1250" b="0" i="0" dirty="0">
                <a:solidFill>
                  <a:srgbClr val="171D27"/>
                </a:solidFill>
                <a:latin typeface="Segoe UI"/>
              </a:rPr>
              <a:t>, Airflow, pandas, </a:t>
            </a:r>
            <a:r>
              <a:rPr sz="1250" b="0" i="0" dirty="0" err="1">
                <a:solidFill>
                  <a:srgbClr val="171D27"/>
                </a:solidFill>
                <a:latin typeface="Segoe UI"/>
              </a:rPr>
              <a:t>DuckDB</a:t>
            </a:r>
            <a:r>
              <a:rPr lang="en-US" sz="1250" dirty="0">
                <a:solidFill>
                  <a:srgbClr val="171D27"/>
                </a:solidFill>
                <a:latin typeface="Segoe UI"/>
              </a:rPr>
              <a:t>,</a:t>
            </a:r>
            <a:r>
              <a:rPr sz="1250" b="0" i="0" dirty="0">
                <a:solidFill>
                  <a:srgbClr val="171D27"/>
                </a:solidFill>
                <a:latin typeface="Segoe UI"/>
              </a:rPr>
              <a:t> are the very tools this pipeline is assembled from. The project measures the health of its own supply chain.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92A3"/>
                </a:solidFill>
                <a:latin typeface="Consolas"/>
              </a:rPr>
              <a:t>2 /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92A3"/>
                </a:solidFill>
                <a:latin typeface="Consolas"/>
              </a:rPr>
              <a:t>GitHub Open Source Pulse — ITC6050 Group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2A78D6"/>
                </a:solidFill>
                <a:latin typeface="Consolas"/>
              </a:rPr>
              <a:t>03</a:t>
            </a:r>
            <a:r>
              <a:rPr lang="en-US" sz="1100" b="1" i="0" dirty="0">
                <a:solidFill>
                  <a:srgbClr val="2A78D6"/>
                </a:solidFill>
                <a:latin typeface="Consolas"/>
              </a:rPr>
              <a:t> </a:t>
            </a:r>
            <a:r>
              <a:rPr sz="1100" b="1" i="0" dirty="0">
                <a:solidFill>
                  <a:srgbClr val="2A78D6"/>
                </a:solidFill>
                <a:latin typeface="Consolas"/>
              </a:rPr>
              <a:t>·</a:t>
            </a:r>
            <a:r>
              <a:rPr lang="en-US" sz="1100" b="1" i="0" dirty="0">
                <a:solidFill>
                  <a:srgbClr val="2A78D6"/>
                </a:solidFill>
                <a:latin typeface="Consolas"/>
              </a:rPr>
              <a:t> </a:t>
            </a:r>
            <a:r>
              <a:rPr sz="1100" b="1" i="0" dirty="0">
                <a:solidFill>
                  <a:srgbClr val="2A78D6"/>
                </a:solidFill>
                <a:latin typeface="Consola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86968"/>
            <a:ext cx="110578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rgbClr val="171D27"/>
                </a:solidFill>
                <a:latin typeface="Cambria"/>
              </a:rPr>
              <a:t>Four stages, one direction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103120"/>
            <a:ext cx="1810512" cy="141732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2249424"/>
            <a:ext cx="1517904" cy="6644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 dirty="0">
                <a:solidFill>
                  <a:srgbClr val="2A78D6"/>
                </a:solidFill>
                <a:latin typeface="Consolas"/>
              </a:rPr>
              <a:t>SOURCE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171D27"/>
                </a:solidFill>
                <a:latin typeface="Segoe UI"/>
              </a:rPr>
              <a:t>GitHub REST API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8792A3"/>
                </a:solidFill>
                <a:latin typeface="Segoe UI"/>
              </a:rPr>
              <a:t>/repos /issues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103120"/>
            <a:ext cx="501319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792A3"/>
                </a:solidFill>
                <a:latin typeface="Segoe U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8759" y="2103120"/>
            <a:ext cx="1810512" cy="1417320"/>
          </a:xfrm>
          <a:prstGeom prst="roundRect">
            <a:avLst>
              <a:gd name="adj" fmla="val 6000"/>
            </a:avLst>
          </a:prstGeom>
          <a:solidFill>
            <a:srgbClr val="E3EE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25063" y="2249424"/>
            <a:ext cx="151790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2A78D6"/>
                </a:solidFill>
                <a:latin typeface="Consolas"/>
              </a:rPr>
              <a:t>EXTRACT + LOAD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71D27"/>
                </a:solidFill>
                <a:latin typeface="Segoe UI"/>
              </a:rPr>
              <a:t>pipeline.py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92A3"/>
                </a:solidFill>
                <a:latin typeface="Segoe UI"/>
              </a:rPr>
              <a:t>dlt · 2 resources · replace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9271" y="2103120"/>
            <a:ext cx="501319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792A3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90590" y="2103120"/>
            <a:ext cx="1810512" cy="141732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36894" y="2249424"/>
            <a:ext cx="1517904" cy="6644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 dirty="0">
                <a:solidFill>
                  <a:srgbClr val="2A78D6"/>
                </a:solidFill>
                <a:latin typeface="Consolas"/>
              </a:rPr>
              <a:t>STORAGE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171D27"/>
                </a:solidFill>
                <a:latin typeface="Segoe UI"/>
              </a:rPr>
              <a:t>PostgreSQL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 err="1">
                <a:solidFill>
                  <a:srgbClr val="8792A3"/>
                </a:solidFill>
                <a:latin typeface="Segoe UI"/>
              </a:rPr>
              <a:t>raw.repos</a:t>
            </a:r>
            <a:r>
              <a:rPr lang="en-US" sz="1050" dirty="0">
                <a:solidFill>
                  <a:srgbClr val="8792A3"/>
                </a:solidFill>
                <a:latin typeface="Segoe UI"/>
              </a:rPr>
              <a:t>  </a:t>
            </a:r>
            <a:r>
              <a:rPr sz="1050" b="0" i="0" dirty="0">
                <a:solidFill>
                  <a:srgbClr val="8792A3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8792A3"/>
                </a:solidFill>
                <a:latin typeface="Segoe UI"/>
              </a:rPr>
              <a:t>raw.issues</a:t>
            </a:r>
            <a:endParaRPr sz="1050" b="0" i="0" dirty="0">
              <a:solidFill>
                <a:srgbClr val="8792A3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01102" y="2103120"/>
            <a:ext cx="501319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792A3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02421" y="2103120"/>
            <a:ext cx="1810512" cy="1417320"/>
          </a:xfrm>
          <a:prstGeom prst="roundRect">
            <a:avLst>
              <a:gd name="adj" fmla="val 6000"/>
            </a:avLst>
          </a:prstGeom>
          <a:solidFill>
            <a:srgbClr val="E3EE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48725" y="2249424"/>
            <a:ext cx="151790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2A78D6"/>
                </a:solidFill>
                <a:latin typeface="Consolas"/>
              </a:rPr>
              <a:t>TRANSFORM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71D27"/>
                </a:solidFill>
                <a:latin typeface="Segoe UI"/>
              </a:rPr>
              <a:t>dbt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92A3"/>
                </a:solidFill>
                <a:latin typeface="Segoe UI"/>
              </a:rPr>
              <a:t>stg_issues → mart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12933" y="2103120"/>
            <a:ext cx="501319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792A3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14252" y="2103120"/>
            <a:ext cx="1810512" cy="1417320"/>
          </a:xfrm>
          <a:prstGeom prst="roundRect">
            <a:avLst>
              <a:gd name="adj" fmla="val 6000"/>
            </a:avLst>
          </a:prstGeom>
          <a:solidFill>
            <a:srgbClr val="DEF3E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60556" y="2249424"/>
            <a:ext cx="151790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2A78D6"/>
                </a:solidFill>
                <a:latin typeface="Consolas"/>
              </a:rPr>
              <a:t>SERVE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71D27"/>
                </a:solidFill>
                <a:latin typeface="Segoe UI"/>
              </a:rPr>
              <a:t>dashboard.py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92A3"/>
                </a:solidFill>
                <a:latin typeface="Segoe UI"/>
              </a:rPr>
              <a:t>Streamlit + Plotly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840480"/>
            <a:ext cx="110578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1" dirty="0">
                <a:solidFill>
                  <a:srgbClr val="8792A3"/>
                </a:solidFill>
                <a:latin typeface="Segoe UI"/>
              </a:rPr>
              <a:t>Batch pipeline, single direction, triggered manually</a:t>
            </a:r>
            <a:r>
              <a:rPr lang="en-US" sz="1300" b="0" i="1" dirty="0">
                <a:solidFill>
                  <a:srgbClr val="8792A3"/>
                </a:solidFill>
                <a:latin typeface="Segoe UI"/>
              </a:rPr>
              <a:t>,</a:t>
            </a:r>
            <a:r>
              <a:rPr sz="1300" b="0" i="1" dirty="0">
                <a:solidFill>
                  <a:srgbClr val="8792A3"/>
                </a:solidFill>
                <a:latin typeface="Segoe UI"/>
              </a:rPr>
              <a:t> no loops back.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389120"/>
            <a:ext cx="11057839" cy="143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50" b="1" i="0" dirty="0">
                <a:solidFill>
                  <a:srgbClr val="2A78D6"/>
                </a:solidFill>
                <a:latin typeface="Segoe UI"/>
              </a:rPr>
              <a:t>—  </a:t>
            </a:r>
            <a:r>
              <a:rPr sz="1450" b="1" i="0" dirty="0">
                <a:solidFill>
                  <a:srgbClr val="171D27"/>
                </a:solidFill>
                <a:latin typeface="Segoe UI"/>
              </a:rPr>
              <a:t>Extract + Load </a:t>
            </a:r>
            <a:r>
              <a:rPr lang="en-US" sz="1450" b="1" i="0" dirty="0">
                <a:solidFill>
                  <a:srgbClr val="171D27"/>
                </a:solidFill>
                <a:latin typeface="Segoe UI"/>
              </a:rPr>
              <a:t>:</a:t>
            </a:r>
            <a:r>
              <a:rPr sz="1450" b="1" i="0" dirty="0">
                <a:solidFill>
                  <a:srgbClr val="171D27"/>
                </a:solidFill>
                <a:latin typeface="Segoe UI"/>
              </a:rPr>
              <a:t> </a:t>
            </a:r>
            <a:r>
              <a:rPr sz="1450" b="0" i="0" dirty="0">
                <a:solidFill>
                  <a:srgbClr val="565F6E"/>
                </a:solidFill>
                <a:latin typeface="Segoe UI"/>
              </a:rPr>
              <a:t>one </a:t>
            </a:r>
            <a:r>
              <a:rPr sz="1450" b="0" i="0" dirty="0" err="1">
                <a:solidFill>
                  <a:srgbClr val="565F6E"/>
                </a:solidFill>
                <a:latin typeface="Segoe UI"/>
              </a:rPr>
              <a:t>dlt</a:t>
            </a:r>
            <a:r>
              <a:rPr sz="1450" b="0" i="0" dirty="0">
                <a:solidFill>
                  <a:srgbClr val="565F6E"/>
                </a:solidFill>
                <a:latin typeface="Segoe UI"/>
              </a:rPr>
              <a:t> resource per API entity</a:t>
            </a:r>
            <a:r>
              <a:rPr lang="en-US" sz="1450" b="0" i="0" dirty="0">
                <a:solidFill>
                  <a:srgbClr val="565F6E"/>
                </a:solidFill>
                <a:latin typeface="Segoe UI"/>
              </a:rPr>
              <a:t>.</a:t>
            </a:r>
            <a:r>
              <a:rPr sz="1450" b="0" i="0" dirty="0">
                <a:solidFill>
                  <a:srgbClr val="565F6E"/>
                </a:solidFill>
                <a:latin typeface="Segoe UI"/>
              </a:rPr>
              <a:t> </a:t>
            </a:r>
            <a:r>
              <a:rPr sz="1450" b="0" i="0" dirty="0" err="1">
                <a:solidFill>
                  <a:srgbClr val="565F6E"/>
                </a:solidFill>
                <a:latin typeface="Segoe UI"/>
              </a:rPr>
              <a:t>write_disposition</a:t>
            </a:r>
            <a:r>
              <a:rPr sz="1450" b="0" i="0" dirty="0">
                <a:solidFill>
                  <a:srgbClr val="565F6E"/>
                </a:solidFill>
                <a:latin typeface="Segoe UI"/>
              </a:rPr>
              <a:t>="replace" makes every run a clean full-refresh snapshot.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50" b="1" i="0" dirty="0">
                <a:solidFill>
                  <a:srgbClr val="2A78D6"/>
                </a:solidFill>
                <a:latin typeface="Segoe UI"/>
              </a:rPr>
              <a:t>—  </a:t>
            </a:r>
            <a:r>
              <a:rPr sz="1450" b="1" i="0" dirty="0">
                <a:solidFill>
                  <a:srgbClr val="171D27"/>
                </a:solidFill>
                <a:latin typeface="Segoe UI"/>
              </a:rPr>
              <a:t>Transform </a:t>
            </a:r>
            <a:r>
              <a:rPr lang="en-US" sz="1450" b="1" dirty="0">
                <a:solidFill>
                  <a:srgbClr val="171D27"/>
                </a:solidFill>
                <a:latin typeface="Segoe UI"/>
              </a:rPr>
              <a:t>:</a:t>
            </a:r>
            <a:r>
              <a:rPr sz="1450" b="1" i="0" dirty="0">
                <a:solidFill>
                  <a:srgbClr val="171D27"/>
                </a:solidFill>
                <a:latin typeface="Segoe UI"/>
              </a:rPr>
              <a:t> </a:t>
            </a:r>
            <a:r>
              <a:rPr sz="1450" b="0" i="0" dirty="0" err="1">
                <a:solidFill>
                  <a:srgbClr val="565F6E"/>
                </a:solidFill>
                <a:latin typeface="Segoe UI"/>
              </a:rPr>
              <a:t>stg_issues</a:t>
            </a:r>
            <a:r>
              <a:rPr sz="1450" b="0" i="0" dirty="0">
                <a:solidFill>
                  <a:srgbClr val="565F6E"/>
                </a:solidFill>
                <a:latin typeface="Segoe UI"/>
              </a:rPr>
              <a:t> is a view (cheap row-level casts)</a:t>
            </a:r>
            <a:r>
              <a:rPr lang="en-US" sz="1450" b="0" i="0" dirty="0">
                <a:solidFill>
                  <a:srgbClr val="565F6E"/>
                </a:solidFill>
                <a:latin typeface="Segoe UI"/>
              </a:rPr>
              <a:t>,</a:t>
            </a:r>
            <a:r>
              <a:rPr sz="1450" b="0" i="0" dirty="0">
                <a:solidFill>
                  <a:srgbClr val="565F6E"/>
                </a:solidFill>
                <a:latin typeface="Segoe UI"/>
              </a:rPr>
              <a:t> </a:t>
            </a:r>
            <a:r>
              <a:rPr sz="1450" b="0" i="0" dirty="0" err="1">
                <a:solidFill>
                  <a:srgbClr val="565F6E"/>
                </a:solidFill>
                <a:latin typeface="Segoe UI"/>
              </a:rPr>
              <a:t>repo_issue_summary</a:t>
            </a:r>
            <a:r>
              <a:rPr sz="1450" b="0" i="0" dirty="0">
                <a:solidFill>
                  <a:srgbClr val="565F6E"/>
                </a:solidFill>
                <a:latin typeface="Segoe UI"/>
              </a:rPr>
              <a:t> is a table (precomputed aggregation + window functions for top authors).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50" b="1" i="0" dirty="0">
                <a:solidFill>
                  <a:srgbClr val="2A78D6"/>
                </a:solidFill>
                <a:latin typeface="Segoe UI"/>
              </a:rPr>
              <a:t>—  </a:t>
            </a:r>
            <a:r>
              <a:rPr sz="1450" b="1" i="0" dirty="0">
                <a:solidFill>
                  <a:srgbClr val="171D27"/>
                </a:solidFill>
                <a:latin typeface="Segoe UI"/>
              </a:rPr>
              <a:t>Serve </a:t>
            </a:r>
            <a:r>
              <a:rPr lang="en-US" sz="1450" b="1" i="0" dirty="0">
                <a:solidFill>
                  <a:srgbClr val="171D27"/>
                </a:solidFill>
                <a:latin typeface="Segoe UI"/>
              </a:rPr>
              <a:t>:</a:t>
            </a:r>
            <a:r>
              <a:rPr sz="1450" b="1" i="0" dirty="0">
                <a:solidFill>
                  <a:srgbClr val="171D27"/>
                </a:solidFill>
                <a:latin typeface="Segoe UI"/>
              </a:rPr>
              <a:t> </a:t>
            </a:r>
            <a:r>
              <a:rPr sz="1450" b="0" i="0" dirty="0">
                <a:solidFill>
                  <a:srgbClr val="565F6E"/>
                </a:solidFill>
                <a:latin typeface="Segoe UI"/>
              </a:rPr>
              <a:t>filters, KPIs and two charts all read from the same cached, filtered frame</a:t>
            </a:r>
            <a:r>
              <a:rPr lang="en-US" sz="1450" b="0" i="0" dirty="0">
                <a:solidFill>
                  <a:srgbClr val="565F6E"/>
                </a:solidFill>
                <a:latin typeface="Segoe UI"/>
              </a:rPr>
              <a:t>,</a:t>
            </a:r>
            <a:r>
              <a:rPr sz="1450" b="0" i="0" dirty="0">
                <a:solidFill>
                  <a:srgbClr val="565F6E"/>
                </a:solidFill>
                <a:latin typeface="Segoe UI"/>
              </a:rPr>
              <a:t> state </a:t>
            </a:r>
            <a:r>
              <a:rPr sz="1450" b="0" i="0" dirty="0" err="1">
                <a:solidFill>
                  <a:srgbClr val="565F6E"/>
                </a:solidFill>
                <a:latin typeface="Segoe UI"/>
              </a:rPr>
              <a:t>colour</a:t>
            </a:r>
            <a:r>
              <a:rPr sz="1450" b="0" i="0" dirty="0">
                <a:solidFill>
                  <a:srgbClr val="565F6E"/>
                </a:solidFill>
                <a:latin typeface="Segoe UI"/>
              </a:rPr>
              <a:t> (open/closed) stays fixed across every chart.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92A3"/>
                </a:solidFill>
                <a:latin typeface="Consolas"/>
              </a:rPr>
              <a:t>3 /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92A3"/>
                </a:solidFill>
                <a:latin typeface="Consolas"/>
              </a:rPr>
              <a:t>GitHub Open Source Pulse — ITC6050 Group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6BADF2"/>
                </a:solidFill>
                <a:latin typeface="Consolas"/>
              </a:rPr>
              <a:t>04 · LIVE 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86968"/>
            <a:ext cx="110578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rgbClr val="FFFFFF"/>
                </a:solidFill>
                <a:latin typeface="Cambria"/>
              </a:rPr>
              <a:t>Watch the pipeline run, end to end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965960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44168" y="1947672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45336" y="2093976"/>
            <a:ext cx="471830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8FE6BB"/>
                </a:solidFill>
                <a:latin typeface="Consolas"/>
              </a:rPr>
              <a:t>python pipeline.py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47688" y="1965960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C7D2E3"/>
                </a:solidFill>
                <a:latin typeface="Segoe UI"/>
              </a:rPr>
              <a:t>Ingests repos + issues from GitHub into Postgres raw schema.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3364992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44168" y="3346704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45336" y="3493008"/>
            <a:ext cx="471830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8FE6BB"/>
                </a:solidFill>
                <a:latin typeface="Consolas"/>
              </a:rPr>
              <a:t>dbt run --profiles-dir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7688" y="3364992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C7D2E3"/>
                </a:solidFill>
                <a:latin typeface="Segoe UI"/>
              </a:rPr>
              <a:t>Builds stg_issues (view) and repo_issue_summary (table).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4764024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44168" y="4745736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45336" y="4892040"/>
            <a:ext cx="471830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8FE6BB"/>
                </a:solidFill>
                <a:latin typeface="Consolas"/>
              </a:rPr>
              <a:t>streamlit run dashboard.py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4951975"/>
            <a:ext cx="4846320" cy="2184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dirty="0">
                <a:solidFill>
                  <a:srgbClr val="C7D2E3"/>
                </a:solidFill>
                <a:latin typeface="Segoe UI"/>
              </a:rPr>
              <a:t>Opens the filterable dashboard at localhost:8501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94360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7CC0FF"/>
                </a:solidFill>
                <a:latin typeface="Consolas"/>
              </a:rPr>
              <a:t>→  Switching to terminal + browser now.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2A78D6"/>
                </a:solidFill>
                <a:latin typeface="Consolas"/>
              </a:rPr>
              <a:t>05 · DATA 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86968"/>
            <a:ext cx="110578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rgbClr val="171D27"/>
                </a:solidFill>
                <a:latin typeface="Cambria"/>
              </a:rPr>
              <a:t>8 / 8 </a:t>
            </a:r>
            <a:r>
              <a:rPr sz="3000" b="1" i="0" dirty="0" err="1">
                <a:solidFill>
                  <a:srgbClr val="171D27"/>
                </a:solidFill>
                <a:latin typeface="Cambria"/>
              </a:rPr>
              <a:t>dbt</a:t>
            </a:r>
            <a:r>
              <a:rPr sz="3000" b="1" i="0" dirty="0">
                <a:solidFill>
                  <a:srgbClr val="171D27"/>
                </a:solidFill>
                <a:latin typeface="Cambria"/>
              </a:rPr>
              <a:t> tests passing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74519"/>
            <a:ext cx="4206240" cy="960120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8096" y="2020823"/>
            <a:ext cx="3803904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D7E0EF"/>
                </a:solidFill>
                <a:latin typeface="Consolas"/>
              </a:rPr>
              <a:t>$ dbt test --profiles-dir .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8FE6BB"/>
                </a:solidFill>
                <a:latin typeface="Consolas"/>
              </a:rPr>
              <a:t>Done. PASS=8 WARN=0 ERROR=0 SKIP=0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3063240"/>
          <a:ext cx="112471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8792A3"/>
                          </a:solidFill>
                          <a:latin typeface="Consolas"/>
                        </a:rPr>
                        <a:t>TEST</a:t>
                      </a:r>
                    </a:p>
                  </a:txBody>
                  <a:tcPr marL="128016" marT="54864" marB="54864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8792A3"/>
                          </a:solidFill>
                          <a:latin typeface="Consolas"/>
                        </a:rPr>
                        <a:t>APPLIES TO</a:t>
                      </a:r>
                    </a:p>
                  </a:txBody>
                  <a:tcPr marL="128016" marT="54864" marB="54864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8792A3"/>
                          </a:solidFill>
                          <a:latin typeface="Consolas"/>
                        </a:rPr>
                        <a:t>CATCHES</a:t>
                      </a:r>
                    </a:p>
                  </a:txBody>
                  <a:tcPr marL="128016" marT="54864" marB="54864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148A63"/>
                          </a:solidFill>
                          <a:latin typeface="Consolas"/>
                        </a:rPr>
                        <a:t>not_null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565F6E"/>
                          </a:solidFill>
                          <a:latin typeface="Consolas"/>
                        </a:rPr>
                        <a:t>issue_id, repo, state, mart.repo, mart.total_issues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71D27"/>
                          </a:solidFill>
                          <a:latin typeface="Segoe UI"/>
                        </a:rPr>
                        <a:t>a row missing a required field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148A63"/>
                          </a:solidFill>
                          <a:latin typeface="Consolas"/>
                        </a:rPr>
                        <a:t>accepted_values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565F6E"/>
                          </a:solidFill>
                          <a:latin typeface="Consolas"/>
                        </a:rPr>
                        <a:t>stg_issues.state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71D27"/>
                          </a:solidFill>
                          <a:latin typeface="Segoe UI"/>
                        </a:rPr>
                        <a:t>any state besides open / closed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148A63"/>
                          </a:solidFill>
                          <a:latin typeface="Consolas"/>
                        </a:rPr>
                        <a:t>unique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565F6E"/>
                          </a:solidFill>
                          <a:latin typeface="Consolas"/>
                        </a:rPr>
                        <a:t>repo_issue_summary.repo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71D27"/>
                          </a:solidFill>
                          <a:latin typeface="Segoe UI"/>
                        </a:rPr>
                        <a:t>a repo appearing zero or twice in the mart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148A63"/>
                          </a:solidFill>
                          <a:latin typeface="Consolas"/>
                        </a:rPr>
                        <a:t>custom singular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565F6E"/>
                          </a:solidFill>
                          <a:latin typeface="Consolas"/>
                        </a:rPr>
                        <a:t>assert_issue_unique_per_repo.sql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71D27"/>
                          </a:solidFill>
                          <a:latin typeface="Segoe UI"/>
                        </a:rPr>
                        <a:t>a duplicate (repo, issue_id) — a page loaded twice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92A3"/>
                </a:solidFill>
                <a:latin typeface="Consolas"/>
              </a:rPr>
              <a:t>5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92A3"/>
                </a:solidFill>
                <a:latin typeface="Consolas"/>
              </a:rPr>
              <a:t>GitHub Open Source Pulse — ITC6050 Group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2A78D6"/>
                </a:solidFill>
                <a:latin typeface="Consolas"/>
              </a:rPr>
              <a:t>06 · CHALLENGES &amp; LESSONS 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86968"/>
            <a:ext cx="110578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rgbClr val="171D27"/>
                </a:solidFill>
                <a:latin typeface="Cambria"/>
              </a:rPr>
              <a:t>What actually went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965960"/>
            <a:ext cx="110578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2A78D6"/>
                </a:solidFill>
                <a:latin typeface="Segoe UI"/>
              </a:rPr>
              <a:t>—  </a:t>
            </a:r>
            <a:r>
              <a:rPr sz="1450" b="1" i="0">
                <a:solidFill>
                  <a:srgbClr val="171D27"/>
                </a:solidFill>
                <a:latin typeface="Segoe UI"/>
              </a:rPr>
              <a:t>API quirk. </a:t>
            </a:r>
            <a:r>
              <a:rPr sz="1450" b="0" i="0">
                <a:solidFill>
                  <a:srgbClr val="565F6E"/>
                </a:solidFill>
                <a:latin typeface="Segoe UI"/>
              </a:rPr>
              <a:t> the Issues endpoint returns pull requests too; issue counts were inflated until we filtered out rows carrying a pull_request key.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2A78D6"/>
                </a:solidFill>
                <a:latin typeface="Segoe UI"/>
              </a:rPr>
              <a:t>—  </a:t>
            </a:r>
            <a:r>
              <a:rPr sz="1450" b="1" i="0">
                <a:solidFill>
                  <a:srgbClr val="171D27"/>
                </a:solidFill>
                <a:latin typeface="Segoe UI"/>
              </a:rPr>
              <a:t>Dependency pinning bit us twice. </a:t>
            </a:r>
            <a:r>
              <a:rPr sz="1450" b="0" i="0">
                <a:solidFill>
                  <a:srgbClr val="565F6E"/>
                </a:solidFill>
                <a:latin typeface="Segoe UI"/>
              </a:rPr>
              <a:t> a version bump broke us twice — dlt 1.6 imports the deprecated pkg_resources (fixed by pinning setuptools&lt;81), and pyarrow 25.x segfaults on macOS during Streamlit reruns (fixed by pinning pyarrow&lt;20).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2A78D6"/>
                </a:solidFill>
                <a:latin typeface="Segoe UI"/>
              </a:rPr>
              <a:t>—  </a:t>
            </a:r>
            <a:r>
              <a:rPr sz="1450" b="1" i="0">
                <a:solidFill>
                  <a:srgbClr val="171D27"/>
                </a:solidFill>
                <a:latin typeface="Segoe UI"/>
              </a:rPr>
              <a:t>Scoping tradeoffs. </a:t>
            </a:r>
            <a:r>
              <a:rPr sz="1450" b="0" i="0">
                <a:solidFill>
                  <a:srgbClr val="565F6E"/>
                </a:solidFill>
                <a:latin typeface="Segoe UI"/>
              </a:rPr>
              <a:t> full-refresh loads and a 300-issues-per-repo cap kept the pipeline simple and fast for a course-sized dataset — at the cost of run history and completeness on the highest-traffic repos.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2A78D6"/>
                </a:solidFill>
                <a:latin typeface="Segoe UI"/>
              </a:rPr>
              <a:t>—  </a:t>
            </a:r>
            <a:r>
              <a:rPr sz="1450" b="1" i="0">
                <a:solidFill>
                  <a:srgbClr val="171D27"/>
                </a:solidFill>
                <a:latin typeface="Segoe UI"/>
              </a:rPr>
              <a:t>Takeaway. </a:t>
            </a:r>
            <a:r>
              <a:rPr sz="1450" b="0" i="0">
                <a:solidFill>
                  <a:srgbClr val="565F6E"/>
                </a:solidFill>
                <a:latin typeface="Segoe UI"/>
              </a:rPr>
              <a:t> pin dependencies deliberately and test data quality before trusting a dashboard number — both bugs above were invisible until something downstream broke.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5257800"/>
            <a:ext cx="11057839" cy="1005840"/>
          </a:xfrm>
          <a:prstGeom prst="roundRect">
            <a:avLst>
              <a:gd name="adj" fmla="val 6000"/>
            </a:avLst>
          </a:prstGeom>
          <a:solidFill>
            <a:srgbClr val="E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5385816"/>
            <a:ext cx="10545775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050" b="1" i="0">
                <a:solidFill>
                  <a:srgbClr val="2A78D6"/>
                </a:solidFill>
                <a:latin typeface="Consolas"/>
              </a:rPr>
              <a:t>IF WE HAD MORE TIME  </a:t>
            </a:r>
            <a:r>
              <a:rPr sz="1250" b="0" i="0">
                <a:solidFill>
                  <a:srgbClr val="171D27"/>
                </a:solidFill>
                <a:latin typeface="Segoe UI"/>
              </a:rPr>
              <a:t>Incremental loads (merge on issue id instead of full replace), a scheduler to run the pipeline automatically, and CI running dbt test on every push.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92A3"/>
                </a:solidFill>
                <a:latin typeface="Consolas"/>
              </a:rPr>
              <a:t>6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92A3"/>
                </a:solidFill>
                <a:latin typeface="Consolas"/>
              </a:rPr>
              <a:t>GitHub Open Source Pulse — ITC6050 Group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1243</Words>
  <Application>Microsoft Office PowerPoint</Application>
  <PresentationFormat>Widescreen</PresentationFormat>
  <Paragraphs>101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Orestis Pappas</cp:lastModifiedBy>
  <cp:revision>11</cp:revision>
  <dcterms:created xsi:type="dcterms:W3CDTF">2013-01-27T09:14:16Z</dcterms:created>
  <dcterms:modified xsi:type="dcterms:W3CDTF">2026-07-18T10:29:02Z</dcterms:modified>
  <cp:category/>
</cp:coreProperties>
</file>