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71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 min. State the title, the one-line thesis, and names out loud. Hook: the six repos we track are the very tools this pipeline is built from — we're measuring the health of our own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min. Name the two endpoints, the pagination cap (300 issues/repo, why: rate-limit budget and course-scale simplicity), and the pull_request filtering quirk. Land on the dogfooding hook: we track the tools we built this with. Likely question: 'how do you know your issue counts are accurate?' -&gt; PR filtering + the duplicate-id test on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 min. Walk left to right, one breath per box. Emphasize the two materialization choices (view vs table) and that </a:t>
            </a:r>
            <a:r>
              <a:rPr dirty="0" err="1"/>
              <a:t>write_disposition</a:t>
            </a:r>
            <a:r>
              <a:rPr dirty="0"/>
              <a:t>=replace means no run history</a:t>
            </a:r>
            <a:r>
              <a:rPr lang="en-US" dirty="0"/>
              <a:t>,</a:t>
            </a:r>
            <a:r>
              <a:rPr dirty="0"/>
              <a:t> only a snapshot. Likely question: 'why not incremental loads?' -&gt; dataset is small (~1,800 issues total), full refresh is simpler and still cheap on the API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 min. This slide is a cue card, not the demo itself</a:t>
            </a:r>
            <a:r>
              <a:rPr lang="en-US" dirty="0"/>
              <a:t>.</a:t>
            </a:r>
            <a:r>
              <a:rPr dirty="0"/>
              <a:t> switch to the terminal here. Postgres must already be running (docker start itc6050_postgres). Run the three commands in order, narrating what each one changes underneath. Have a pre-captured screenshot of the dashboard and </a:t>
            </a:r>
            <a:r>
              <a:rPr dirty="0" err="1"/>
              <a:t>dbt</a:t>
            </a:r>
            <a:r>
              <a:rPr dirty="0"/>
              <a:t> test output ready in case the live connection 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min. Point at the terminal-style PASS=8 line first, then the table. Emphasize the custom test: GitHub issue ids are globally unique, so a duplicate (repo, issue_id) pair can only mean the extractor loaded a page twice — this is the test that would catch that class of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 min. These are real fixes from our own commit history, not hypothetical — name them plainly. Close on the 'if we had more time' line, it's a strong bridge into Q&amp;A. Likely Q&amp;A questions: why replace not incremental (dataset is small, simplicity over engineering effort); why cap at 300 issues/repo (rate-limit + scope, not a bug); what's the grain of each model (issues: one row per issue; mart: one row per repo, enforced by the unique test).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98E6-93A9-7549-6725-35BD7769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A90D7-970D-E723-2983-11E951394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FF63A-D928-BCD9-7357-F4B1444DA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 min. This slide is a cue card, not the demo itself</a:t>
            </a:r>
            <a:r>
              <a:rPr lang="en-US" dirty="0"/>
              <a:t>.</a:t>
            </a:r>
            <a:r>
              <a:rPr dirty="0"/>
              <a:t> switch to the terminal here. Postgres must already be running (docker start itc6050_postgres). Run the three commands in order, narrating what each one changes underneath. Have a pre-captured screenshot of the dashboard and </a:t>
            </a:r>
            <a:r>
              <a:rPr dirty="0" err="1"/>
              <a:t>dbt</a:t>
            </a:r>
            <a:r>
              <a:rPr dirty="0"/>
              <a:t> test output ready in case the live connection stalls.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3AEA7-30AF-AB61-2CBE-21E97471C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66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400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6BADF2"/>
                </a:solidFill>
                <a:latin typeface="Consolas"/>
              </a:rPr>
              <a:t>ITC 6050</a:t>
            </a:r>
            <a:r>
              <a:rPr lang="en-US" sz="1100" b="1" i="0" dirty="0">
                <a:solidFill>
                  <a:srgbClr val="6BADF2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6BADF2"/>
                </a:solidFill>
                <a:latin typeface="Consolas"/>
              </a:rPr>
              <a:t>· DATA ENGINEERING · FINAL PROJECT · GROUP 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0515600" cy="705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dirty="0">
                <a:solidFill>
                  <a:srgbClr val="FFFFFF"/>
                </a:solidFill>
                <a:latin typeface="Cambria"/>
              </a:rPr>
              <a:t>GitHub</a:t>
            </a:r>
            <a:r>
              <a:rPr lang="en-US" sz="48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4800" b="1" i="0" dirty="0">
                <a:solidFill>
                  <a:srgbClr val="FFFFFF"/>
                </a:solidFill>
                <a:latin typeface="Cambria"/>
              </a:rPr>
              <a:t>Open</a:t>
            </a:r>
            <a:r>
              <a:rPr lang="en-US" sz="4800" b="1" i="0" dirty="0">
                <a:solidFill>
                  <a:srgbClr val="FFFFFF"/>
                </a:solidFill>
                <a:latin typeface="Cambria"/>
              </a:rPr>
              <a:t>-</a:t>
            </a:r>
            <a:r>
              <a:rPr sz="4800" b="1" i="0" dirty="0">
                <a:solidFill>
                  <a:srgbClr val="FFFFFF"/>
                </a:solidFill>
                <a:latin typeface="Cambria"/>
              </a:rPr>
              <a:t>Source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46120"/>
            <a:ext cx="8778240" cy="276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dirty="0">
                <a:solidFill>
                  <a:srgbClr val="C7D2E3"/>
                </a:solidFill>
                <a:latin typeface="Segoe UI"/>
              </a:rPr>
              <a:t>Measuring community health </a:t>
            </a:r>
            <a:r>
              <a:rPr lang="en-US" sz="1650" dirty="0">
                <a:solidFill>
                  <a:srgbClr val="C7D2E3"/>
                </a:solidFill>
                <a:latin typeface="Segoe UI"/>
              </a:rPr>
              <a:t>in GitHub repositories using GitHub REST API</a:t>
            </a:r>
            <a:r>
              <a:rPr sz="1650" b="0" i="0" dirty="0">
                <a:solidFill>
                  <a:srgbClr val="C7D2E3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7CC0FF"/>
                </a:solidFill>
                <a:latin typeface="Consolas"/>
              </a:rPr>
              <a:t>GitHub API  →  </a:t>
            </a:r>
            <a:r>
              <a:rPr sz="1300" b="0" i="0" dirty="0" err="1">
                <a:solidFill>
                  <a:srgbClr val="7CC0FF"/>
                </a:solidFill>
                <a:latin typeface="Consolas"/>
              </a:rPr>
              <a:t>dlt</a:t>
            </a:r>
            <a:r>
              <a:rPr sz="1300" b="0" i="0" dirty="0">
                <a:solidFill>
                  <a:srgbClr val="7CC0FF"/>
                </a:solidFill>
                <a:latin typeface="Consolas"/>
              </a:rPr>
              <a:t>  →  PostgreSQL  →  </a:t>
            </a:r>
            <a:r>
              <a:rPr sz="1300" b="0" i="0" dirty="0" err="1">
                <a:solidFill>
                  <a:srgbClr val="7CC0FF"/>
                </a:solidFill>
                <a:latin typeface="Consolas"/>
              </a:rPr>
              <a:t>dbt</a:t>
            </a:r>
            <a:r>
              <a:rPr sz="1300" b="0" i="0" dirty="0">
                <a:solidFill>
                  <a:srgbClr val="7CC0FF"/>
                </a:solidFill>
                <a:latin typeface="Consolas"/>
              </a:rPr>
              <a:t>  →  </a:t>
            </a:r>
            <a:r>
              <a:rPr sz="1300" b="0" i="0" dirty="0" err="1">
                <a:solidFill>
                  <a:srgbClr val="7CC0FF"/>
                </a:solidFill>
                <a:latin typeface="Consolas"/>
              </a:rPr>
              <a:t>Streamlit</a:t>
            </a:r>
            <a:endParaRPr sz="1300" b="0" i="0" dirty="0">
              <a:solidFill>
                <a:srgbClr val="7CC0FF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5074920"/>
            <a:ext cx="11057839" cy="33020"/>
          </a:xfrm>
          <a:prstGeom prst="rect">
            <a:avLst/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34924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6BADF2"/>
                </a:solidFill>
                <a:latin typeface="Consolas"/>
              </a:rPr>
              <a:t>G</a:t>
            </a:r>
            <a:r>
              <a:rPr lang="en-US" sz="1200" b="1" i="0" dirty="0">
                <a:solidFill>
                  <a:srgbClr val="6BADF2"/>
                </a:solidFill>
                <a:latin typeface="Consolas"/>
              </a:rPr>
              <a:t>EORGE</a:t>
            </a:r>
            <a:r>
              <a:rPr sz="1200" b="1" i="0" dirty="0">
                <a:solidFill>
                  <a:srgbClr val="6BADF2"/>
                </a:solidFill>
                <a:latin typeface="Consolas"/>
              </a:rPr>
              <a:t> ANTONAKIS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4635" y="5349240"/>
            <a:ext cx="1358265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 dirty="0">
                <a:solidFill>
                  <a:srgbClr val="6BADF2"/>
                </a:solidFill>
                <a:latin typeface="Consolas"/>
              </a:rPr>
              <a:t>ORESTIS PAPPAS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50" b="0" i="0" dirty="0">
              <a:solidFill>
                <a:srgbClr val="8792A3"/>
              </a:solidFill>
              <a:latin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51F44-4B24-B200-F741-F778190F6068}"/>
              </a:ext>
            </a:extLst>
          </p:cNvPr>
          <p:cNvSpPr txBox="1"/>
          <p:nvPr/>
        </p:nvSpPr>
        <p:spPr>
          <a:xfrm>
            <a:off x="4756785" y="5349240"/>
            <a:ext cx="1816735" cy="40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200" b="1" i="0" dirty="0">
                <a:solidFill>
                  <a:srgbClr val="6BADF2"/>
                </a:solidFill>
                <a:latin typeface="Consolas"/>
              </a:rPr>
              <a:t>AARON THOMAS DUESING</a:t>
            </a:r>
            <a:endParaRPr sz="1200" b="1" i="0" dirty="0">
              <a:solidFill>
                <a:srgbClr val="6BADF2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50" b="0" i="0" dirty="0">
              <a:solidFill>
                <a:srgbClr val="8792A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02 · 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i="0" dirty="0">
                <a:solidFill>
                  <a:srgbClr val="171D2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 — 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Repository Issue Tracking and Resolution Metrics</a:t>
            </a:r>
            <a:endParaRPr sz="3200" i="0" dirty="0">
              <a:solidFill>
                <a:srgbClr val="171D2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A78D6"/>
                </a:solidFill>
                <a:latin typeface="Consolas"/>
              </a:rPr>
              <a:t>WHAT WE PULL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5999"/>
            <a:ext cx="5074920" cy="143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/repos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one snapshot row per repo: stars, forks, language, open-issue count.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/issues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up to 300 newest issues per repo, state, author, created/closed timestamps, labels, comment counts.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/>
              </a:rPr>
              <a:t>—  </a:t>
            </a:r>
            <a:r>
              <a:rPr sz="1450" b="1" i="0" dirty="0">
                <a:solidFill>
                  <a:srgbClr val="171D27"/>
                </a:solidFill>
                <a:latin typeface="Segoe UI"/>
              </a:rPr>
              <a:t>Filtering 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P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ull requests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 are returned</a:t>
            </a:r>
            <a:r>
              <a:rPr lang="en-US" sz="1450" b="0" i="0" dirty="0">
                <a:solidFill>
                  <a:srgbClr val="565F6E"/>
                </a:solidFill>
                <a:latin typeface="Segoe UI"/>
              </a:rPr>
              <a:t>, which are filtered out</a:t>
            </a:r>
            <a:r>
              <a:rPr sz="1450" b="0" i="0" dirty="0">
                <a:solidFill>
                  <a:srgbClr val="565F6E"/>
                </a:solidFill>
                <a:latin typeface="Segoe UI"/>
              </a:rPr>
              <a:t>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87451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8A63"/>
                </a:solidFill>
                <a:latin typeface="Consolas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2285999"/>
            <a:ext cx="5074920" cy="183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dirty="0">
                <a:solidFill>
                  <a:srgbClr val="171D27"/>
                </a:solidFill>
                <a:latin typeface="Segoe UI"/>
              </a:rPr>
              <a:t>—  Community health</a:t>
            </a:r>
            <a:r>
              <a:rPr lang="en-US" sz="1450" b="1" dirty="0">
                <a:solidFill>
                  <a:srgbClr val="171D27"/>
                </a:solidFill>
                <a:latin typeface="Segoe UI"/>
              </a:rPr>
              <a:t> </a:t>
            </a:r>
            <a:r>
              <a:rPr sz="1450" b="1" dirty="0">
                <a:solidFill>
                  <a:srgbClr val="171D27"/>
                </a:solidFill>
                <a:latin typeface="Segoe UI"/>
              </a:rPr>
              <a:t>quantified.</a:t>
            </a:r>
            <a:r>
              <a:rPr sz="1450" dirty="0">
                <a:solidFill>
                  <a:srgbClr val="171D27"/>
                </a:solidFill>
                <a:latin typeface="Segoe UI"/>
              </a:rPr>
              <a:t> </a:t>
            </a:r>
            <a:r>
              <a:rPr lang="en-US" sz="1450" dirty="0">
                <a:solidFill>
                  <a:srgbClr val="171D27"/>
                </a:solidFill>
                <a:latin typeface="Segoe UI"/>
              </a:rPr>
              <a:t>Issue activity provides measurable indicators of repository health, including issue resolution speed, contributor engagement, and workload.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dirty="0">
                <a:solidFill>
                  <a:srgbClr val="171D27"/>
                </a:solidFill>
                <a:latin typeface="Segoe UI"/>
              </a:rPr>
              <a:t>—  </a:t>
            </a:r>
            <a:r>
              <a:rPr lang="en-US" sz="1450" b="1" dirty="0">
                <a:solidFill>
                  <a:srgbClr val="171D27"/>
                </a:solidFill>
                <a:latin typeface="Segoe UI"/>
              </a:rPr>
              <a:t>Software maintenance patterns revealed. </a:t>
            </a:r>
            <a:r>
              <a:rPr lang="en-US" sz="1450" dirty="0">
                <a:solidFill>
                  <a:srgbClr val="171D27"/>
                </a:solidFill>
                <a:latin typeface="Segoe UI"/>
              </a:rPr>
              <a:t>Issue states, timestamps, labels, and comment activity enable comparisons between repositories beyond simple popularity metrics such as stars and forks.</a:t>
            </a:r>
            <a:endParaRPr sz="1450" dirty="0">
              <a:solidFill>
                <a:srgbClr val="171D27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638675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8792A3"/>
                </a:solidFill>
                <a:latin typeface="Consolas"/>
              </a:rPr>
              <a:t>SIX TRACKED REPOSITORIES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3E902B-AF06-01DE-930C-5A2EB0079317}"/>
              </a:ext>
            </a:extLst>
          </p:cNvPr>
          <p:cNvGrpSpPr/>
          <p:nvPr/>
        </p:nvGrpSpPr>
        <p:grpSpPr>
          <a:xfrm>
            <a:off x="566928" y="4928235"/>
            <a:ext cx="5457136" cy="329184"/>
            <a:chOff x="566928" y="4709160"/>
            <a:chExt cx="5457136" cy="329184"/>
          </a:xfrm>
        </p:grpSpPr>
        <p:sp>
          <p:nvSpPr>
            <p:cNvPr id="10" name="Rounded Rectangle 9"/>
            <p:cNvSpPr/>
            <p:nvPr/>
          </p:nvSpPr>
          <p:spPr>
            <a:xfrm>
              <a:off x="566928" y="4709160"/>
              <a:ext cx="508406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dlt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03350" y="4709160"/>
              <a:ext cx="929030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dbt-core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260396" y="4709160"/>
              <a:ext cx="1013155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Streamlit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401567" y="4709160"/>
              <a:ext cx="844905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Airflow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74488" y="4709160"/>
              <a:ext cx="760780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>
                  <a:solidFill>
                    <a:srgbClr val="565F6E"/>
                  </a:solidFill>
                  <a:latin typeface="Consolas"/>
                </a:rPr>
                <a:t>pandas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263284" y="4709160"/>
              <a:ext cx="760780" cy="329184"/>
            </a:xfrm>
            <a:prstGeom prst="roundRect">
              <a:avLst>
                <a:gd name="adj" fmla="val 6000"/>
              </a:avLst>
            </a:prstGeom>
            <a:solidFill>
              <a:srgbClr val="F1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146304" tIns="0" rIns="146304" bIns="0" rtlCol="0" anchor="ctr"/>
            <a:lstStyle/>
            <a:p>
              <a:pPr algn="ctr"/>
              <a:r>
                <a:rPr sz="1150" b="1" i="0" dirty="0" err="1">
                  <a:solidFill>
                    <a:srgbClr val="565F6E"/>
                  </a:solidFill>
                  <a:latin typeface="Consolas"/>
                </a:rPr>
                <a:t>DuckDB</a:t>
              </a:r>
              <a:endParaRPr sz="1150" b="1" i="0" dirty="0">
                <a:solidFill>
                  <a:srgbClr val="565F6E"/>
                </a:solidFill>
                <a:latin typeface="Consolas"/>
              </a:endParaRP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566928" y="5349240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F6E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751042"/>
            <a:ext cx="10545775" cy="202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050" b="1" i="0" dirty="0">
                <a:solidFill>
                  <a:srgbClr val="A6650F"/>
                </a:solidFill>
                <a:latin typeface="Consolas"/>
              </a:rPr>
              <a:t>IT'S MORE THAN A DEMO  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These six repos are the </a:t>
            </a:r>
            <a:r>
              <a:rPr lang="en-US" sz="1250" b="0" i="0" dirty="0">
                <a:solidFill>
                  <a:srgbClr val="171D27"/>
                </a:solidFill>
                <a:latin typeface="Segoe UI"/>
              </a:rPr>
              <a:t>same</a:t>
            </a:r>
            <a:r>
              <a:rPr sz="1250" b="0" i="0" dirty="0">
                <a:solidFill>
                  <a:srgbClr val="171D27"/>
                </a:solidFill>
                <a:latin typeface="Segoe UI"/>
              </a:rPr>
              <a:t> tools this pipeline is assembled from. The project measures the health of its own supply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2 /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03</a:t>
            </a:r>
            <a:r>
              <a:rPr lang="en-US" sz="1100" b="1" i="0" dirty="0">
                <a:solidFill>
                  <a:srgbClr val="2A78D6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2A78D6"/>
                </a:solidFill>
                <a:latin typeface="Consolas"/>
              </a:rPr>
              <a:t>·</a:t>
            </a:r>
            <a:r>
              <a:rPr lang="en-US" sz="1100" b="1" i="0" dirty="0">
                <a:solidFill>
                  <a:srgbClr val="2A78D6"/>
                </a:solidFill>
                <a:latin typeface="Consolas"/>
              </a:rPr>
              <a:t> </a:t>
            </a:r>
            <a:r>
              <a:rPr sz="1100" b="1" i="0" dirty="0">
                <a:solidFill>
                  <a:srgbClr val="2A78D6"/>
                </a:solidFill>
                <a:latin typeface="Consolas"/>
              </a:rPr>
              <a:t>ARCHITECTURE</a:t>
            </a:r>
            <a:r>
              <a:rPr lang="en-US" sz="1100" b="1" i="0" dirty="0">
                <a:solidFill>
                  <a:srgbClr val="2A78D6"/>
                </a:solidFill>
                <a:latin typeface="Consolas"/>
              </a:rPr>
              <a:t> DIAGRAM</a:t>
            </a:r>
            <a:endParaRPr sz="1100" b="1" i="0" dirty="0">
              <a:solidFill>
                <a:srgbClr val="2A78D6"/>
              </a:solidFill>
              <a:latin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71D2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</a:t>
            </a:r>
            <a:r>
              <a:rPr lang="en-US" sz="3000" b="1" i="0" dirty="0">
                <a:solidFill>
                  <a:srgbClr val="171D2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ive</a:t>
            </a:r>
            <a:r>
              <a:rPr sz="3000" b="1" i="0" dirty="0">
                <a:solidFill>
                  <a:srgbClr val="171D27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stages, one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416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680464"/>
            <a:ext cx="1517904" cy="664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dirty="0">
                <a:solidFill>
                  <a:srgbClr val="2A78D6"/>
                </a:solidFill>
                <a:latin typeface="Consolas"/>
              </a:rPr>
              <a:t>SOURCE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71D27"/>
                </a:solidFill>
                <a:latin typeface="Segoe UI"/>
              </a:rPr>
              <a:t>GitHub REST 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8792A3"/>
                </a:solidFill>
                <a:latin typeface="Segoe UI"/>
              </a:rPr>
              <a:t>/repos /issues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3416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8759" y="153416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E3EE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25063" y="1680464"/>
            <a:ext cx="1517904" cy="664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dirty="0">
                <a:solidFill>
                  <a:srgbClr val="2A78D6"/>
                </a:solidFill>
                <a:latin typeface="Consolas"/>
              </a:rPr>
              <a:t>EXTRACT </a:t>
            </a:r>
            <a:r>
              <a:rPr lang="en-US" sz="950" b="1" i="0" dirty="0">
                <a:solidFill>
                  <a:srgbClr val="2A78D6"/>
                </a:solidFill>
                <a:latin typeface="Consolas"/>
              </a:rPr>
              <a:t>&amp;</a:t>
            </a:r>
            <a:r>
              <a:rPr sz="950" b="1" i="0" dirty="0">
                <a:solidFill>
                  <a:srgbClr val="2A78D6"/>
                </a:solidFill>
                <a:latin typeface="Consolas"/>
              </a:rPr>
              <a:t> LOAD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71D27"/>
                </a:solidFill>
                <a:latin typeface="Segoe UI"/>
              </a:rPr>
              <a:t>pipeline.py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8792A3"/>
                </a:solidFill>
                <a:latin typeface="Segoe UI"/>
              </a:rPr>
              <a:t>dlt</a:t>
            </a:r>
            <a:r>
              <a:rPr sz="1050" b="0" i="0" dirty="0">
                <a:solidFill>
                  <a:srgbClr val="8792A3"/>
                </a:solidFill>
                <a:latin typeface="Segoe UI"/>
              </a:rPr>
              <a:t> · 2 resources · replace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271" y="153416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0590" y="153416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6894" y="1680464"/>
            <a:ext cx="1517904" cy="6644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dirty="0">
                <a:solidFill>
                  <a:srgbClr val="2A78D6"/>
                </a:solidFill>
                <a:latin typeface="Consolas"/>
              </a:rPr>
              <a:t>STORAGE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71D27"/>
                </a:solidFill>
                <a:latin typeface="Segoe UI"/>
              </a:rPr>
              <a:t>PostgreSQL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8792A3"/>
                </a:solidFill>
                <a:latin typeface="Segoe UI"/>
              </a:rPr>
              <a:t>raw.repos</a:t>
            </a:r>
            <a:r>
              <a:rPr lang="en-US" sz="1050" dirty="0">
                <a:solidFill>
                  <a:srgbClr val="8792A3"/>
                </a:solidFill>
                <a:latin typeface="Segoe UI"/>
              </a:rPr>
              <a:t>  </a:t>
            </a:r>
            <a:r>
              <a:rPr sz="1050" b="0" i="0" dirty="0">
                <a:solidFill>
                  <a:srgbClr val="8792A3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8792A3"/>
                </a:solidFill>
                <a:latin typeface="Segoe UI"/>
              </a:rPr>
              <a:t>raw.issues</a:t>
            </a:r>
            <a:endParaRPr sz="1050" b="0" i="0" dirty="0">
              <a:solidFill>
                <a:srgbClr val="8792A3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01102" y="153416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02421" y="153416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E3EEF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48725" y="1680464"/>
            <a:ext cx="1517904" cy="1019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dirty="0">
                <a:solidFill>
                  <a:srgbClr val="2A78D6"/>
                </a:solidFill>
                <a:latin typeface="Consolas"/>
              </a:rPr>
              <a:t>TRANSFORM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solidFill>
                  <a:srgbClr val="171D27"/>
                </a:solidFill>
                <a:latin typeface="Segoe UI"/>
              </a:rPr>
              <a:t>dbt</a:t>
            </a:r>
            <a:endParaRPr sz="1400" b="1" i="0" dirty="0">
              <a:solidFill>
                <a:srgbClr val="171D27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8792A3"/>
                </a:solidFill>
                <a:latin typeface="Segoe UI"/>
              </a:rPr>
              <a:t>stg_issues</a:t>
            </a:r>
            <a:r>
              <a:rPr sz="1050" b="0" i="0" dirty="0">
                <a:solidFill>
                  <a:srgbClr val="8792A3"/>
                </a:solidFill>
                <a:latin typeface="Segoe UI"/>
              </a:rPr>
              <a:t> → </a:t>
            </a:r>
            <a:r>
              <a:rPr lang="en-US" sz="1050" b="0" i="0" dirty="0" err="1">
                <a:solidFill>
                  <a:srgbClr val="8792A3"/>
                </a:solidFill>
                <a:latin typeface="Segoe UI"/>
              </a:rPr>
              <a:t>repo_issue_summary</a:t>
            </a:r>
            <a:r>
              <a:rPr lang="en-US" sz="1050" b="0" i="0" dirty="0">
                <a:solidFill>
                  <a:srgbClr val="8792A3"/>
                </a:solidFill>
                <a:latin typeface="Segoe UI"/>
              </a:rPr>
              <a:t> (</a:t>
            </a:r>
            <a:r>
              <a:rPr sz="1050" b="0" i="0" dirty="0">
                <a:solidFill>
                  <a:srgbClr val="8792A3"/>
                </a:solidFill>
                <a:latin typeface="Segoe UI"/>
              </a:rPr>
              <a:t>mart</a:t>
            </a:r>
            <a:r>
              <a:rPr lang="en-US" sz="1050" b="0" i="0" dirty="0">
                <a:solidFill>
                  <a:srgbClr val="8792A3"/>
                </a:solidFill>
                <a:latin typeface="Segoe UI"/>
              </a:rPr>
              <a:t>)</a:t>
            </a:r>
            <a:endParaRPr sz="1050" b="0" i="0" dirty="0">
              <a:solidFill>
                <a:srgbClr val="8792A3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12933" y="1534160"/>
            <a:ext cx="501319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792A3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4252" y="1524000"/>
            <a:ext cx="1810512" cy="1417320"/>
          </a:xfrm>
          <a:prstGeom prst="roundRect">
            <a:avLst>
              <a:gd name="adj" fmla="val 6000"/>
            </a:avLst>
          </a:prstGeom>
          <a:solidFill>
            <a:srgbClr val="DEF3EB"/>
          </a:solidFill>
          <a:ln w="952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0556" y="1680464"/>
            <a:ext cx="15179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SERVE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71D27"/>
                </a:solidFill>
                <a:latin typeface="Segoe UI"/>
              </a:rPr>
              <a:t>dashboard.py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Segoe UI"/>
              </a:rPr>
              <a:t>Streamlit + Plotly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88640"/>
            <a:ext cx="110578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 dirty="0">
                <a:solidFill>
                  <a:srgbClr val="8792A3"/>
                </a:solidFill>
                <a:latin typeface="Segoe UI"/>
              </a:rPr>
              <a:t>Batch pipeline, single direction, triggered manually</a:t>
            </a:r>
            <a:r>
              <a:rPr lang="en-US" sz="1300" b="0" i="1" dirty="0">
                <a:solidFill>
                  <a:srgbClr val="8792A3"/>
                </a:solidFill>
                <a:latin typeface="Segoe UI"/>
              </a:rPr>
              <a:t>,</a:t>
            </a:r>
            <a:r>
              <a:rPr sz="1300" b="0" i="1" dirty="0">
                <a:solidFill>
                  <a:srgbClr val="8792A3"/>
                </a:solidFill>
                <a:latin typeface="Segoe UI"/>
              </a:rPr>
              <a:t> no loops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423920"/>
            <a:ext cx="11057839" cy="2868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1" i="0" dirty="0">
                <a:solidFill>
                  <a:srgbClr val="2A78D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</a:t>
            </a:r>
            <a:r>
              <a:rPr lang="en-US" sz="1450" b="1" i="0" dirty="0">
                <a:solidFill>
                  <a:srgbClr val="2A78D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i="0" dirty="0">
                <a:solidFill>
                  <a:srgbClr val="2A78D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Extracts repository metadata, including repository statistics, issue states, timestamps, labels, and user activity. 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2A78D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EXTRACT &amp; LOAD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Automates extraction and loading into PostgreSQL.  Creates clean full-refresh snapshot every run. 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2A78D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STORAGE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—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Stores the raw GitHub data in structured relational tables  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2A78D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TRANSFORM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—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Cleans and models raw data into analytics-ready tables. 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stg_issues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= row-level transformations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repo_issue_summary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= aggregated repository metrics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2A78D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VISUALIZATION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—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Final analytics dashboard including KPIs and charts.</a:t>
            </a:r>
            <a:endParaRPr sz="1450" b="0" i="0" dirty="0">
              <a:solidFill>
                <a:srgbClr val="565F6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3 /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6BADF2"/>
                </a:solidFill>
                <a:latin typeface="Consolas"/>
              </a:rPr>
              <a:t>04 · LIVE 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FFFFFF"/>
                </a:solidFill>
                <a:latin typeface="Cambria"/>
              </a:rPr>
              <a:t>Watch the pipeline run, end to end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96596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44168" y="1947672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5336" y="2093976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python pipeline.py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7688" y="196596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7D2E3"/>
                </a:solidFill>
                <a:latin typeface="Segoe UI"/>
              </a:rPr>
              <a:t>Ingests repos + issues from GitHub into Postgres raw schema.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364992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3346704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5336" y="3493008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dbt run --profiles-dir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336499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7D2E3"/>
                </a:solidFill>
                <a:latin typeface="Segoe UI"/>
              </a:rPr>
              <a:t>Builds stg_issues (view) and repo_issue_summary (table).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764024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44168" y="4745736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45336" y="4892040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streamlit run dashboard.py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4951975"/>
            <a:ext cx="4846320" cy="2184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>
                <a:solidFill>
                  <a:srgbClr val="C7D2E3"/>
                </a:solidFill>
                <a:latin typeface="Segoe UI"/>
              </a:rPr>
              <a:t>Opens the filterable dashboard at localhost:8501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7CC0FF"/>
                </a:solidFill>
                <a:latin typeface="Consolas"/>
              </a:rPr>
              <a:t>→  Switching to terminal + browser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05 · DATA 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171D27"/>
                </a:solidFill>
                <a:latin typeface="Cambria"/>
              </a:rPr>
              <a:t>dbt</a:t>
            </a:r>
            <a:r>
              <a:rPr sz="3000" b="1" i="0" dirty="0">
                <a:solidFill>
                  <a:srgbClr val="171D27"/>
                </a:solidFill>
                <a:latin typeface="Cambria"/>
              </a:rPr>
              <a:t> test</a:t>
            </a:r>
            <a:r>
              <a:rPr lang="en-US" sz="3000" b="1" i="0" dirty="0">
                <a:solidFill>
                  <a:srgbClr val="171D27"/>
                </a:solidFill>
                <a:latin typeface="Cambria"/>
              </a:rPr>
              <a:t> results — All 8 passed</a:t>
            </a:r>
            <a:endParaRPr sz="3000" b="1" i="0" dirty="0">
              <a:solidFill>
                <a:srgbClr val="171D27"/>
              </a:solidFill>
              <a:latin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4206240" cy="96012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020823"/>
            <a:ext cx="3803904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D7E0EF"/>
                </a:solidFill>
                <a:latin typeface="Consolas"/>
              </a:rPr>
              <a:t>$ dbt test --profiles-dir 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FE6BB"/>
                </a:solidFill>
                <a:latin typeface="Consolas"/>
              </a:rPr>
              <a:t>Done. PASS=8 WARN=0 ERROR=0 SKIP=0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3063240"/>
          <a:ext cx="11247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792A3"/>
                          </a:solidFill>
                          <a:latin typeface="Consolas"/>
                        </a:rPr>
                        <a:t>TEST</a:t>
                      </a:r>
                    </a:p>
                  </a:txBody>
                  <a:tcPr marL="128016" marT="54864" marB="54864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792A3"/>
                          </a:solidFill>
                          <a:latin typeface="Consolas"/>
                        </a:rPr>
                        <a:t>APPLIES TO</a:t>
                      </a:r>
                    </a:p>
                  </a:txBody>
                  <a:tcPr marL="128016" marT="54864" marB="54864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8792A3"/>
                          </a:solidFill>
                          <a:latin typeface="Consolas"/>
                        </a:rPr>
                        <a:t>CATCHES</a:t>
                      </a:r>
                    </a:p>
                  </a:txBody>
                  <a:tcPr marL="128016" marT="54864" marB="54864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not_null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issue_id, repo, state, mart.repo, mart.total_issues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 row missing a required field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accepted_values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stg_issues.state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any state besides open / closed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unique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repo_issue_summary.repo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 repo appearing zero or twice in the mart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48A63"/>
                          </a:solidFill>
                          <a:latin typeface="Consolas"/>
                        </a:rPr>
                        <a:t>custom singular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565F6E"/>
                          </a:solidFill>
                          <a:latin typeface="Consolas"/>
                        </a:rPr>
                        <a:t>assert_issue_unique_per_repo.sql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71D27"/>
                          </a:solidFill>
                          <a:latin typeface="Segoe UI"/>
                        </a:rPr>
                        <a:t>a duplicate (repo, issue_id) — a page loaded twice</a:t>
                      </a:r>
                    </a:p>
                  </a:txBody>
                  <a:tcPr marL="128016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5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2A78D6"/>
                </a:solidFill>
                <a:latin typeface="Consolas"/>
              </a:rPr>
              <a:t>06 · CHALLENGES &amp; LESSONS 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86968"/>
            <a:ext cx="1105783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1D27"/>
                </a:solidFill>
                <a:latin typeface="Cambria"/>
              </a:rPr>
              <a:t>What went </a:t>
            </a:r>
            <a:r>
              <a:rPr sz="3000" b="1" i="0" dirty="0">
                <a:solidFill>
                  <a:srgbClr val="171D27"/>
                </a:solidFill>
                <a:latin typeface="Cambria"/>
              </a:rPr>
              <a:t>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7" y="1725168"/>
            <a:ext cx="11057839" cy="3207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rgbClr val="2A78D6"/>
                </a:solidFill>
                <a:latin typeface="Segoe UI"/>
              </a:rPr>
              <a:t>—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Reproducible environments.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Different operating systems, Python versions, and dependency conflicts caused inconsistent behavior. Virtual environments, Docker, and pinned dependencies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setuptools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&lt;81,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pyarrow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&lt;20) ensured reliable execution.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b="1" dirty="0">
                <a:solidFill>
                  <a:srgbClr val="2A78D6"/>
                </a:solidFill>
                <a:latin typeface="Segoe UI"/>
              </a:rPr>
              <a:t>—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API data model quirks.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The GitHub Issues endpoint returns both issues and pull requests, inflating issue counts. Repository metrics also required careful interpretation because they include pull requests.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b="1" dirty="0">
                <a:solidFill>
                  <a:srgbClr val="2A78D6"/>
                </a:solidFill>
                <a:latin typeface="Segoe UI"/>
              </a:rPr>
              <a:t>—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Scoping tradeoffs.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Limiting ingestion to the 300 most recent issues per repository kept API usage low and pipeline runs efficient but reduced historical completeness.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b="1" dirty="0">
                <a:solidFill>
                  <a:srgbClr val="2A78D6"/>
                </a:solidFill>
                <a:latin typeface="Segoe UI"/>
              </a:rPr>
              <a:t>—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Reusable architecture.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A mid-project data source change showed that the layered pipeline design (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dlt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ingestion →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dbt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transformations → dashboard) could be adapted with minimal architectural changes.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endParaRPr sz="1600" b="0" i="0" dirty="0">
              <a:solidFill>
                <a:srgbClr val="565F6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5257800"/>
            <a:ext cx="11057839" cy="1005840"/>
          </a:xfrm>
          <a:prstGeom prst="roundRect">
            <a:avLst>
              <a:gd name="adj" fmla="val 6000"/>
            </a:avLst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385816"/>
            <a:ext cx="10545775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050" b="1" i="0">
                <a:solidFill>
                  <a:srgbClr val="2A78D6"/>
                </a:solidFill>
                <a:latin typeface="Consolas"/>
              </a:rPr>
              <a:t>IF WE HAD MORE TIME  </a:t>
            </a:r>
            <a:r>
              <a:rPr sz="1250" b="0" i="0">
                <a:solidFill>
                  <a:srgbClr val="171D27"/>
                </a:solidFill>
                <a:latin typeface="Segoe UI"/>
              </a:rPr>
              <a:t>Incremental loads (merge on issue id instead of full replace), a scheduler to run the pipeline automatically, and CI running dbt test on every push.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792A3"/>
                </a:solidFill>
                <a:latin typeface="Consolas"/>
              </a:rPr>
              <a:t>GitHub Open Source Pulse — ITC6050 Group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AD75B-5CF1-76C6-A92D-208A1B72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982D6-D52C-71E8-FD31-9A108D26CCA1}"/>
              </a:ext>
            </a:extLst>
          </p:cNvPr>
          <p:cNvSpPr txBox="1"/>
          <p:nvPr/>
        </p:nvSpPr>
        <p:spPr>
          <a:xfrm>
            <a:off x="566928" y="50292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BADF2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ADF2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7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BADF2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·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ADF2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QUESTION &amp; ANSWER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6BADF2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76286-8E18-5B6C-0FCC-924D0CBF44D0}"/>
              </a:ext>
            </a:extLst>
          </p:cNvPr>
          <p:cNvSpPr txBox="1"/>
          <p:nvPr/>
        </p:nvSpPr>
        <p:spPr>
          <a:xfrm>
            <a:off x="566928" y="1542767"/>
            <a:ext cx="1105783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FFFFFF"/>
                </a:solidFill>
                <a:latin typeface="Cambria"/>
              </a:rPr>
              <a:t>Thank you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8E6B0-D75F-0C32-986C-172F2B07CAAD}"/>
              </a:ext>
            </a:extLst>
          </p:cNvPr>
          <p:cNvSpPr txBox="1"/>
          <p:nvPr/>
        </p:nvSpPr>
        <p:spPr>
          <a:xfrm>
            <a:off x="436169" y="2875002"/>
            <a:ext cx="11057839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i="1" dirty="0">
                <a:solidFill>
                  <a:srgbClr val="7CC0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Q&amp;A</a:t>
            </a:r>
            <a:endParaRPr kumimoji="0" sz="7200" b="0" i="1" u="none" strike="noStrike" kern="1200" cap="none" spc="0" normalizeH="0" baseline="0" noProof="0" dirty="0">
              <a:ln>
                <a:noFill/>
              </a:ln>
              <a:solidFill>
                <a:srgbClr val="7CC0FF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8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1281</Words>
  <Application>Microsoft Office PowerPoint</Application>
  <PresentationFormat>Widescreen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Cambria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 D</cp:lastModifiedBy>
  <cp:revision>15</cp:revision>
  <dcterms:created xsi:type="dcterms:W3CDTF">2013-01-27T09:14:16Z</dcterms:created>
  <dcterms:modified xsi:type="dcterms:W3CDTF">2026-07-21T11:15:55Z</dcterms:modified>
  <cp:category/>
</cp:coreProperties>
</file>